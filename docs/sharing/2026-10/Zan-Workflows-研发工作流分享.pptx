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建议时长：40 秒
今天想分享的是，我怎样把日常研发中的一串动作，组织成一套可以与 AI 协作的工作流程。我们从一条需求或 Bug 出发，看看项目背景从哪里来，范围怎么确认，代码怎么实施，最后如何交到测试和主线。大家不用先记住所有技能名，先关注每一步的输入、产物，以及凭什么说这一步完成了。
补充提示：开场用一句话说明：今天分享的是一套把上下文、开发、评审与交付连接起来的实践。主讲 18 页，附录按需展开。不要用未经统计的效率百分比。
材料依据（截至 2026-10-26；相对插件根目录，README 除外）：
plugins/zan-workflows/README.md；references/adaptive-workflow.md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建议时长：70 秒
平时使用 AI 写代码，大家可能都遇到过：代码看起来能用，但它理解的是不是这次需求，改到的是不是正确项目，交付时还有哪些事情没做。需求理解、实施协作和交付衔接，容易出现信息断点。这套流程想解决的，就是让这些事实能够一直传下去，减少每换一个阶段就重新解释背景的情况。
补充提示：用团队熟悉的日常问题引入，不把三类问题说成团队现状的统计结论。这些是工作流希望解决的典型断点。
材料依据（截至 2026-10-26；相对插件根目录，README 除外）：
plugins/zan-workflows/README.md；references/adaptive-workflow.md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建议时长：90 秒
先看全貌。需求和 Bug 从不同入口进入，前面都是只读查证，把范围、项目、分支、验收和缺口整理清楚。完整清单确认之后，才进入实施、验证和独立评审。普通开发和修复默认包含提测，但需要先在清单里说清楚并确认。上线则是另一个明确终点，只有收到上线要求才会继续。
补充提示：这里先让听众建立全景，不逐一展开技能。默认选项并不等于已获写入授权。明确“先写完我检查”时，终点在实现、验证和独立评审。
材料依据（截至 2026-10-26；相对插件根目录，README 除外）：
plugins/zan-workflows/README.md；references/adaptive-workflow.md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建议时长：70 秒
这里的几个词，可以对照具体作用来理解。插件把整套能力组织起来，Skill 说明当前事情应该怎样推进，MCP 连接 TAPD、GitLab、Jenkins 等系统，Hook 在适用的操作点执行检查。它们共同支撑工作流，但外部系统接通，并不意味着所有操作都能执行，实际范围、权限和确认仍要逐项核实。
补充提示：Plugin 是分发载体，Skill 是阶段指导，MCP 是连接协议与工具入口，Hook 是事件检查。当前包声明五个 MCP：Hub 使用 HTTP，其余四个通过统一本机启动器使用 STDIO。Hook 包括可选会话记忆和 Git 分支安全检查，不代表自动获得写入授权。
材料依据（截至 2026-10-26；相对插件根目录，README 除外）：
.codex-plugin/plugin.json；.mcp.json；hooks/README.md；references/tool-routing.md；skills/workspace-project-knowledge/SKILL.md；skills/project-memory-context/SKILL.md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建议时长：60 秒
日常先记三个入口：修 Bug 用 fixing-bug，开发需求或选定 Task 用 developing-requirement，代码完成、人工检查之后要交付，用 submitting-for-test。其他能力按阶段调用。调用时把链接、本轮范围和终点讲清楚，尤其想先看代码时，明确说先开发检查、暂不提测。
补充提示：用户先记住这三个入口即可，不必学习全部辅助技能。只做所选 Task、只改前端属于范围约束，并不自动关闭默认提测；要在人工检查后结束，需要明确表达。
材料依据（截至 2026-10-26；相对插件根目录，README 除外）：
plugins/zan-workflows/README.md；references/adaptive-workflow.md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建议时长：70 秒
AI 对公司项目的了解需要有来源。项目知识帮助定位仓库、业务归属、约束和依赖；接口及外部系统提供对应事实；当前源码和实际读回用于核实这次工作。历史记忆可以提供线索，但不能直接当成当前结论。进入实施前，要把关键背景落实到准确项目和当前基准，变化时只刷新受影响的证据。
补充提示：知识入口在需要检索时优先检查 Hub 能力；精确规则和服务映射仍读取维护来源。Hub 不足或不可用时，有依据地回退本地。已知准确仓库或文件且上下文足够时，不需要机械增加图查询。记忆不作为事实数据库。
材料依据（截至 2026-10-26；相对插件根目录，README 除外）：
skills/workspace-project-knowledge/SKILL.md；skills/project-memory-context/SKILL.md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建议时长：90 秒
接下来用一个教学示例串起流程：给订单列表新增状态筛选。这个例子不对应真实项目，也不使用真实业务数据。我们先把行为讲清楚：有哪些状态，默认选什么，切换状态后回到第一页，空结果如何展示。这样后面写方案、实施和验证时，都能对照同一组行为，看到每一步具体增加了什么。
补充提示：这是贯穿讲解的教学案例，不代表真实需求、实际缺陷或实际完成记录。可以邀请听众观察：看起来只多一个筛选项，但页码、空结果和返回行为都需要明确。
材料依据（截至 2026-10-26；相对插件根目录，README 除外）：
plugins/zan-workflows/README.md；references/adaptive-workflow.md；skills/writing-plans/SKILL.md；skills/breaking-down-requirement/SKILL.md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建议时长：100 秒
这张清单是开发前最关键的交接。项目和分支说明在哪里做，交付范围说明这轮做什么，实施方案说明准备怎样做，验收标准说明怎样判断符合预期。业务问题、外部依赖和实际写入也要明确展示。清单获确认后成为执行清单，下游沿用同一份内容；实质范围或操作变化时，再把变化展示出来确认。
补充提示：表格是结构示意。真正执行前还要展示适用的任务、外部依赖、准确写入与测试交付目标、Wiki 模板等。已确认且未改变的清单可以跨阶段复用，不因为换 Skill 再次询问同一内容。
材料依据（截至 2026-10-26；相对插件根目录，README 除外）：
references/execution-checklist.md；skills/preparing-work/SKILL.md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建议时长：75 秒
准备深度跟着实际工作走。范围集中、实施位置和验收明确的小改动，可以用简短执行说明直接交接。确实需要任务管理、正式计划或多人业务协调时，再准备 Task 和 Plan。简单业务决定在对话中处理，复杂决定才使用面板。已有正式任务和计划就继续维护原记录，也保留原本的就绪和读回要求。
补充提示：不要按文件数量机械决定是否使用面板，也不为展示链接而创建 Task 或 Plan。正式任务要精确读回负责人、工时和范围，Plan 步骤绑定真实 Task。多人 Agent 协作本身不等于多人业务交付，不自动强制正式 Plan。
材料依据（截至 2026-10-26；相对插件根目录，README 除外）：
skills/writing-plans/SKILL.md；skills/breaking-down-requirement/SKILL.md；plugins/zan-workflows/README.md；references/adaptive-workflow.md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建议时长：80 秒
并行的前提是任务真的可以独立。比如修改路径、公共契约和验证资源都能分清，才适合分派给不同 Agent。主代理负责依赖顺序、共享操作、集成和最终评审，子代理处理分配的代码与局部验证。有文件或资源冲突时就应串行。多开几个 Agent 本身并不代表进度更快，关键是边界清楚、结果能够合起来。
补充提示：图中步骤 1、2 只是独立模块的示意。本案例如果改动集中在同一列表，不应强行拆成两个 Agent。并行用于缩短独立工作时间；共享契约与集成由主 Agent 负责，最终独立评审不能被子任务自检替代。
材料依据（截至 2026-10-26；相对插件根目录，README 除外）：
skills/implementing-work/SKILL.md；skills/implementing-work/references/parallel-execution.md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建议时长：90 秒
完成要落到不同层次的证据。代码实现了哪些行为，跑过哪些验证，哪些条件还缺失，独立评审是否通过，都需要分别说明。静态检查通过，不能替代业务场景验收；Mock 场景通过，也不能代表真实接口联调通过。我们回到案例里的状态切换、页码重置和空结果，逐项核对，最后只报告实际完成的范围。
补充提示：验证选择基于实际行为和影响，不机械执行全仓 lint、type、test、build。静态检查、Mock 验证和真实集成各有证明边界。评审和证据绑定当前版本，后续人工改动需要判断是否使结论失效。
材料依据（截至 2026-10-26；相对插件根目录，README 除外）：
plugins/zan-workflows/README.md；references/adaptive-workflow.md；references/local-verification.md；references/change-consistency.md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建议时长：100 秒
接口没准备好时，先区分业务已经确认了什么，以及当前步骤还缺什么条件。允许按明确阶段推进，但不能猜测未知接口并当成真实契约。Mock 默认只在本地使用，带入测试环境需要展示准确范围和目标并明确确认，生产链路禁止携带。接口补齐后沿原 Task、Plan 和分支继续，补真实验证和受影响评审。
补充提示：只阻塞受影响步骤，不把未来依赖写成已就绪。接口补齐后沿原 Task、Plan 和分支继续。原来仅批准本地 Mock 而新增真实接入或测试 Mock 交付时，需要覆盖新增范围的清单确认。生产要求源码与制品排除，不能仅关闭开关。
材料依据（截至 2026-10-26；相对插件根目录，README 除外）：
references/external-data-dependencies.md；references/mock-development.md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建议时长：100 秒
提测把代码和上下文一起交出去。它会核实当前变更与评审，按确认范围处理提交、推送、MR 和测试分支合并，以及所选构建、Wiki 和适用 TAPD 登记。这里要特别注意，提测阶段只确认 Jenkins 已接受构建任务，留下准确队列链接，结果应说构建任务已提交，不能据此说测试环境已经部署成功。
补充提示：普通开发和修复默认测试交付先展示完整确定清单并确认，独立直接提测要确认具体计划。人工修改后先补受影响验证和独立评审。已有提交、推送或 MR 经过准确核实后复用。提测只确认 Jenkins 接受任务，不轮询结果；所选构建未被接受仍是交付缺口。Bug 待测试状态与处理人按适用登记规则读回，Task 状态不因代码完成自动改动。
材料依据（截至 2026-10-26；相对插件根目录，README 除外）：
skills/submitting-for-test/SKILL.md；references/adaptive-workflow.md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建议时长：80 秒
上线需要明确要求，并先核对具体上线计划。流程沿原开发分支进入主线，涉及工具包时，还要核实适用的发布和消费项目升级情况。正式发布需要等待并验证实际结果，与提测只确认构建任务被接受不同。业务应用的生产部署也不能凭开发请求自动推导，是否执行、执行到哪里，都应在准确计划里说明。
补充提示：上线技能把原固定分支直接合并到核实的默认分支，不用 dev/develop 整体回灌。main 只在远端证据确认时使用。涉及工具包先查 latest 是否覆盖当前交付，再查受影响项目是否已使用，只有实际需要才发布或升级。正式发布等待终态，核对准确构建、来源和 Mock 排除证据。上线并不等于自动触发所有业务生产部署。
材料依据（截至 2026-10-26；相对插件根目录，README 除外）：
skills/going-live/SKILL.md；skills/running-release/SKILL.md；skills/going-live/references/tooling-latest.md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建议时长：80 秒
开发者想先检查代码，可以让流程在实施、验证和独立评审后结束。检查后再直接提测，先核实原成果和人工修改，只补受影响的验证与评审。流程中断也一样，先核对已经发生的效果与剩余工作，不重复建分支、建任务或盲目重放外部写入。仍然继续同一工作时，保留原分支和原有有效上下文。
补充提示：人工回复已合并只是触发只读核验，不能代替 MR 合并状态、源版本、必要 CI 和目标包含关系的证据。无权限时保留准确 MR 并提醒用户联系有权限同事，不换账号、不重复创建、不越过依赖。清理开发资源是精确资源清单下的独立动作。
材料依据（截至 2026-10-26；相对插件根目录，README 除外）：
skills/going-live/SKILL.md；skills/running-release/SKILL.md；skills/submitting-for-test/SKILL.md；references/adaptive-workflow.md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建议时长：140 秒
演示分三次表达终点。第一句是开发这个教学需求，先完成代码，我检查后再提测；观察它如何整理范围并在评审后返回。第二句是检查完成，直接提测；观察它核实人工改动、准备交付清单并执行。第三句是明确要求上线，再核对上线计划。这三句话展示的是终点和授权怎样衔接，现场使用脱敏材料。
补充提示：演示建议 4 分钟：1 分钟看输入与完整清单，1 分钟看实现验证与独立评审，1 分钟看提测结果，1 分钟对比上线计划。优先使用真实脱敏的录屏或现有记录，弱网时切换预先整理的材料。未准备真实案例时，讲解这页流程即可，不把教学示例称为真实交付。现场提示语不代表已批准清单，依然需要实际确认。
材料依据（截至 2026-10-26；相对插件根目录，README 除外）：
plugins/zan-workflows/README.md；references/adaptive-workflow.md；skills/submitting-for-test/SKILL.md；references/adaptive-workflow.md；skills/going-live/SKILL.md；skills/running-release/SKILL.md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建议时长：90 秒
团队开始使用时，可以先挑一个范围集中、验收明确的小任务，跑完整个闭环。先核实插件来源、项目知识和个人连接配置，再把任务链接、边界与终点交给入口。第一次重点观察清单是否准确、结果证据是否齐全，以及中断后能否接着做。实际遇到的问题再回到对应规则和工具修正，不急着扩大覆盖范围。
补充提示：首次接入包括 Node.js 22、Volta、uv/uvx 以及各 MCP 的实际要求；project-knowledge 按工作区规则初始化。凭据由个人保存，不进入插件仓库或演示材料。安装和命令放附录，现场不建议把大部分时间花在依赖安装。
材料依据（截至 2026-10-26；相对插件根目录，README 除外）：
README.md 的本机准备、安装与更新；references/mcp-setup.md；本机 codex plugin help 只读核验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建议时长：75 秒
今天希望大家带走三个做法：开始前把范围和终点讲清楚，推进时让同一份事实贯穿各阶段，结束时让完成结论对应实际证据。人的判断集中在业务决定、关键范围和具体授权上，Agent 承担已明确的查证与执行工作。后续可以选一个真实小任务试用，再根据实际问题和可核实的数据讨论怎样改进。
补充提示：结尾强调这是一套可以持续改进的实践，不保证任何场景都全自动。讨论可以聚焦团队最常重复的准备、评审和交付步骤。后续再统计准备时间、重复提问次数、交付返工等指标；本次没有量化收益数据，不编造效率比例。
材料依据（截至 2026-10-26；相对插件根目录，README 除外）：
plugins/zan-workflows/README.md；references/adaptive-workflow.md
此演示未连接或操作真实 TAPD、GitLab、Jenkins，也未执行安装。案例与界面均为教学示意。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本页为完整技能索引。写计划与拆任务属于按需能力，日常从三个主入口开始。注意末列名称较长，电子版可放大查看。依据：plugins/zan-workflows/README.md 阶段职责及辅助能力。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依据：plugins/zan-workflows/README.md；references/mcp-setup.md。命令语法已在 2026-10-26 用本机 codex plugin marketplace add --help 与 codex plugin add --help 只读核验，未执行安装。凭据只由个人配置，禁止在 PPT、仓库和演示中展示实际密钥。安装后核对来源、插件启用状态及 Hook 信任，再验证实际远端权限。Windows 凭据位置见 README。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本材料来源均为 /Users/cfj/projects/skills/plugins/zan-workflows 下当前维护文档。主要来源：README.md；skills/developing-requirement/SKILL.md；skills/fixing-bug/SKILL.md；skills/writing-plans/SKILL.md；skills/implementing-work/SKILL.md；skills/submitting-for-test/SKILL.md；skills/going-live/SKILL.md；skills/running-release/SKILL.md；references/adaptive-workflow.md；references/execution-checklist.md；references/external-data-dependencies.md；references/mock-development.md；hooks/README.md。未引用 schema 版本，因为 README 的旧格式段与当前入口存在历史口径差异，版本细节也不影响此次分享主线。后续工作流变化应更新对应正文和备注。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TEAM SHARING / OCT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2F4C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52560" y="0"/>
            <a:ext cx="3136392" cy="6428232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658368"/>
            <a:ext cx="2542032" cy="5120640"/>
          </a:xfrm>
          <a:prstGeom prst="rect">
            <a:avLst/>
          </a:prstGeom>
          <a:solidFill>
            <a:srgbClr val="176F6A"/>
          </a:solidFill>
          <a:ln w="7620">
            <a:solidFill>
              <a:srgbClr val="176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32588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 AI 写代码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到 AI 协同研发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13232" y="34015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D4E9E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工作流实践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13232" y="4251960"/>
            <a:ext cx="5961888" cy="0"/>
          </a:xfrm>
          <a:prstGeom prst="line">
            <a:avLst/>
          </a:prstGeom>
          <a:noFill/>
          <a:ln w="12700">
            <a:solidFill>
              <a:srgbClr val="416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45994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把研发经验固化成流程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让每一步交付都有依据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22376" y="5806440"/>
            <a:ext cx="2560320" cy="292608"/>
          </a:xfrm>
          <a:prstGeom prst="rect">
            <a:avLst/>
          </a:prstGeom>
          <a:solidFill>
            <a:srgbClr val="D7EBE7"/>
          </a:solidFill>
          <a:ln w="7620">
            <a:solidFill>
              <a:srgbClr val="D7EB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58155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2D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cfj  ·  研发团队分享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55480" y="1097280"/>
            <a:ext cx="1938528" cy="621792"/>
          </a:xfrm>
          <a:prstGeom prst="rect">
            <a:avLst/>
          </a:prstGeom>
          <a:solidFill>
            <a:srgbClr val="2B857D"/>
          </a:solidFill>
          <a:ln w="7620">
            <a:solidFill>
              <a:srgbClr val="2B85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109728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理解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0515600" y="1773936"/>
            <a:ext cx="0" cy="301752"/>
          </a:xfrm>
          <a:prstGeom prst="line">
            <a:avLst/>
          </a:prstGeom>
          <a:noFill/>
          <a:ln w="17780">
            <a:solidFill>
              <a:srgbClr val="B2D6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55480" y="2176272"/>
            <a:ext cx="1938528" cy="621792"/>
          </a:xfrm>
          <a:prstGeom prst="rect">
            <a:avLst/>
          </a:prstGeom>
          <a:solidFill>
            <a:srgbClr val="2B857D"/>
          </a:solidFill>
          <a:ln w="7620">
            <a:solidFill>
              <a:srgbClr val="2B85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2176272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0515600" y="2852928"/>
            <a:ext cx="0" cy="301752"/>
          </a:xfrm>
          <a:prstGeom prst="line">
            <a:avLst/>
          </a:prstGeom>
          <a:noFill/>
          <a:ln w="17780">
            <a:solidFill>
              <a:srgbClr val="B2D6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55480" y="3255264"/>
            <a:ext cx="1938528" cy="621792"/>
          </a:xfrm>
          <a:prstGeom prst="rect">
            <a:avLst/>
          </a:prstGeom>
          <a:solidFill>
            <a:srgbClr val="2B857D"/>
          </a:solidFill>
          <a:ln w="7620">
            <a:solidFill>
              <a:srgbClr val="2B85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255264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评审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0515600" y="3931920"/>
            <a:ext cx="0" cy="301752"/>
          </a:xfrm>
          <a:prstGeom prst="line">
            <a:avLst/>
          </a:prstGeom>
          <a:noFill/>
          <a:ln w="17780">
            <a:solidFill>
              <a:srgbClr val="B2D6D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55480" y="4334256"/>
            <a:ext cx="1938528" cy="621792"/>
          </a:xfrm>
          <a:prstGeom prst="rect">
            <a:avLst/>
          </a:prstGeom>
          <a:solidFill>
            <a:srgbClr val="D7EBE7"/>
          </a:solidFill>
          <a:ln w="7620">
            <a:solidFill>
              <a:srgbClr val="D7EB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4334256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为什么需要一套工作流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代码生成越来越方便，协作与交付仍需要清楚的约定。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3520440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2951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上下文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271576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每次都从头解释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13816" y="3429000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需求在哪个项目？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现有能力能复用多少？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历史上踩过哪些坑？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34256" y="2075688"/>
            <a:ext cx="3520440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2951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协作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3712" y="271576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步骤之间容易脱节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553712" y="3429000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方案与实现脱节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 Agent 修改相互影响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人工改动后评审失效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74152" y="2075688"/>
            <a:ext cx="3520440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2951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交付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93608" y="271576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完成口径不一致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293608" y="3429000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代码完成 ≠ 验证完成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构建提交 ≠ 部署成功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交接资料与实际变更不一致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目标：减少重复准备，让阶段之间的事实和成果能继续使用。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整个工作流长什么样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需求与 Bug 共享研发主线，准备深度和记录方式按实际工作调整。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1655064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" y="31546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读取与定位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730752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需求／Bug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项目与原分支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76856" y="343814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4308" y="2450592"/>
            <a:ext cx="1655064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890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28900" y="31546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范围与方案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628900" y="3730752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清单确认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按需 Task / Plan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46804" y="343814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34256" y="2450592"/>
            <a:ext cx="1655064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98848" y="31546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实施开发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498848" y="3730752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固定分支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独立步骤可并行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16752" y="343814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04204" y="2450592"/>
            <a:ext cx="1655064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8796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68796" y="31546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验证与评审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368796" y="3730752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行为证据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独立最终评审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86700" y="343814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74152" y="2450592"/>
            <a:ext cx="1655064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38744" y="31546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测试交付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238744" y="3730752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dev / develop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构建、Wiki、登记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756648" y="343814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44100" y="2450592"/>
            <a:ext cx="1655064" cy="2057400"/>
          </a:xfrm>
          <a:prstGeom prst="rect">
            <a:avLst/>
          </a:prstGeom>
          <a:solidFill>
            <a:srgbClr val="112D35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8692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108692" y="31546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明确上线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0108692" y="3730752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原分支进主线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核验适用发布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" y="4892040"/>
            <a:ext cx="11000232" cy="502920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992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同一份范围与上下文   →   同一原分支   →   同一批交付证据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普通开发／修复默认包含提测，先展示完整清单并确认；上线须明确发起。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PLUGIN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插件体系如何支撑这条流程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Plugin 组织能力，Skill 描述做法，工具负责实际操作。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39112"/>
            <a:ext cx="7543800" cy="242316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6771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PLUGIN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统一安装、更新与能力组织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3300984"/>
            <a:ext cx="2176272" cy="877824"/>
          </a:xfrm>
          <a:prstGeom prst="rect">
            <a:avLst/>
          </a:prstGeom>
          <a:solidFill>
            <a:srgbClr val="F7F8FA"/>
          </a:solidFill>
          <a:ln w="7620">
            <a:solidFill>
              <a:srgbClr val="F7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410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Skills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3767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阶段规则与调用顺序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218688" y="3300984"/>
            <a:ext cx="2176272" cy="877824"/>
          </a:xfrm>
          <a:prstGeom prst="rect">
            <a:avLst/>
          </a:prstGeom>
          <a:solidFill>
            <a:srgbClr val="F7F8FA"/>
          </a:solidFill>
          <a:ln w="762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3410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Scripts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46704" y="3767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执行、校验与读回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614416" y="3300984"/>
            <a:ext cx="2176272" cy="877824"/>
          </a:xfrm>
          <a:prstGeom prst="rect">
            <a:avLst/>
          </a:prstGeom>
          <a:solidFill>
            <a:srgbClr val="F7F8FA"/>
          </a:solidFill>
          <a:ln w="7620">
            <a:solidFill>
              <a:srgbClr val="F7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3410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Hooks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42432" y="3767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会话衔接与 Git 检查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297680" y="4526280"/>
            <a:ext cx="0" cy="265176"/>
          </a:xfrm>
          <a:prstGeom prst="line">
            <a:avLst/>
          </a:prstGeom>
          <a:noFill/>
          <a:ln w="2159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" y="4919472"/>
            <a:ext cx="7543800" cy="585216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047488"/>
            <a:ext cx="715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MCP 连接：TAPD · GitLab · Jenkins · YApi · Graphify Hub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0" y="2039112"/>
            <a:ext cx="3182112" cy="3465576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2295144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EXTERNAL CONTEXT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41080" y="2752344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外部配套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41080" y="3447288"/>
            <a:ext cx="27340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project-knowledge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项目规则、映射与知识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ai-session-memory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历史决定与失败线索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插件提供工作流与连接能力；知识数据、远端系统和记忆服务各自维护。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ENTRY 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日常先记住三个入口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用目标发起工作，由当前阶段按需调用其他能力。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3520440" cy="31729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需求开发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22960" y="3218688"/>
            <a:ext cx="3063240" cy="502920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3467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7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$developing-requirement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050792"/>
            <a:ext cx="3063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一条 Story 或选定 Task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先核实范围，再开发与交付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34256" y="2231136"/>
            <a:ext cx="3520440" cy="31729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Bug 修复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4562856" y="3218688"/>
            <a:ext cx="3063240" cy="502920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3467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7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$fixing-bug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62856" y="4050792"/>
            <a:ext cx="3063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一条或一组 Bug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复现、修复、评审与溯源记录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74152" y="2231136"/>
            <a:ext cx="3520440" cy="31729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直接提测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8302752" y="3218688"/>
            <a:ext cx="3063240" cy="502920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33467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7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$submitting-for-test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4050792"/>
            <a:ext cx="3063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已经有实现成果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核实当前变更后交付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“先完成代码，我检查后再提测”可以明确把本轮终点设在实施与评审。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怎么知道项目背景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不同来源解决不同问题，也有不同的核实方式。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11000232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3969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维护中的规则与映射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2139696"/>
            <a:ext cx="4270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项目归属、工程约束、服务与 Jenkins 映射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47888" y="2139696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从工作区与权威维护来源核对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11000232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443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项目知识与 Graphify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944368"/>
            <a:ext cx="4270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功能入口、代码关系、影响范围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7888" y="294436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优先知识入口；快照结合当前源码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639312"/>
            <a:ext cx="11000232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会话记忆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3749040"/>
            <a:ext cx="4270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历史决定、失败尝试、需要留意的点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7888" y="37490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小范围检索；候选记忆继续查证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443984"/>
            <a:ext cx="11000232" cy="658368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537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当前源码与系统回执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49040" y="4553712"/>
            <a:ext cx="4270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实际实现、准确版本、写入后的状态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4553712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作为当前行为与完成结论的证据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上下文帮助定位和理解，当前事实支撑操作与结论。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TEACHING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用一个案例贯穿全程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订单列表新增状态筛选；切换状态后回到第一页。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965960"/>
            <a:ext cx="3749040" cy="29260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97510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教学示例 · 非真实项目与 TAPD 条目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6355080" cy="2880360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8072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订单列表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0392" y="3355848"/>
            <a:ext cx="5824728" cy="0"/>
          </a:xfrm>
          <a:prstGeom prst="line">
            <a:avLst/>
          </a:prstGeom>
          <a:noFill/>
          <a:ln w="10160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02736"/>
            <a:ext cx="1371600" cy="420624"/>
          </a:xfrm>
          <a:prstGeom prst="rect">
            <a:avLst/>
          </a:prstGeom>
          <a:solidFill>
            <a:srgbClr val="F7F8FA"/>
          </a:solidFill>
          <a:ln w="7620">
            <a:solidFill>
              <a:srgbClr val="F7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3602736"/>
            <a:ext cx="1371600" cy="420624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6576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待付款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69080" y="3602736"/>
            <a:ext cx="1371600" cy="420624"/>
          </a:xfrm>
          <a:prstGeom prst="rect">
            <a:avLst/>
          </a:prstGeom>
          <a:solidFill>
            <a:srgbClr val="F7F8FA"/>
          </a:solidFill>
          <a:ln w="7620">
            <a:solidFill>
              <a:srgbClr val="F7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36576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7824" y="4334256"/>
            <a:ext cx="3895344" cy="118872"/>
          </a:xfrm>
          <a:prstGeom prst="rect">
            <a:avLst/>
          </a:prstGeom>
          <a:solidFill>
            <a:srgbClr val="E4EBED"/>
          </a:solidFill>
          <a:ln w="7620">
            <a:solidFill>
              <a:srgbClr val="E4EB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8072" y="4334256"/>
            <a:ext cx="1078992" cy="118872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690872"/>
            <a:ext cx="3895344" cy="118872"/>
          </a:xfrm>
          <a:prstGeom prst="rect">
            <a:avLst/>
          </a:prstGeom>
          <a:solidFill>
            <a:srgbClr val="E4EBED"/>
          </a:solidFill>
          <a:ln w="7620">
            <a:solidFill>
              <a:srgbClr val="E4EB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8072" y="4690872"/>
            <a:ext cx="1078992" cy="118872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50840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 1 页   /   筛选结果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88352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把验收写成可观察的行为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88352" y="3685032"/>
            <a:ext cx="39776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 选中状态后，列表正确过滤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 切换状态后，页码重置为 1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 空结果与返回列表行为一致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后续每个阶段都回到同一组行为和验收，避免实现过程中丢失目标。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SCOPE &amp; AUTHORIZATION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开发前，先把本轮工作讲清楚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一张清单连接业务范围、实施方式和本轮交付。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1833372" cy="585216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350008"/>
            <a:ext cx="15773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798064"/>
            <a:ext cx="1833372" cy="145389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990088"/>
            <a:ext cx="15773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准确仓库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与模块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27732" y="2212848"/>
            <a:ext cx="1833372" cy="585216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5748" y="2350008"/>
            <a:ext cx="15773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分支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27732" y="2798064"/>
            <a:ext cx="1833372" cy="145389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5748" y="2990088"/>
            <a:ext cx="15773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新建／复用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固定开发分支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61104" y="2212848"/>
            <a:ext cx="1833372" cy="585216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350008"/>
            <a:ext cx="15773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交付范围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61104" y="2798064"/>
            <a:ext cx="1833372" cy="145389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990088"/>
            <a:ext cx="15773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筛选交互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页码联动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明确排除项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94476" y="2212848"/>
            <a:ext cx="1833372" cy="585216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492" y="2350008"/>
            <a:ext cx="15773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实施方案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94476" y="2798064"/>
            <a:ext cx="1833372" cy="145389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2492" y="2990088"/>
            <a:ext cx="15773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复用列表能力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补充状态参数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27848" y="2212848"/>
            <a:ext cx="1833372" cy="585216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2350008"/>
            <a:ext cx="15773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验收标准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927848" y="2798064"/>
            <a:ext cx="1833372" cy="145389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5864" y="2990088"/>
            <a:ext cx="15773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筛选、翻页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空结果、返回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761220" y="2212848"/>
            <a:ext cx="1833372" cy="585216"/>
          </a:xfrm>
          <a:prstGeom prst="rect">
            <a:avLst/>
          </a:prstGeom>
          <a:solidFill>
            <a:srgbClr val="087F79"/>
          </a:solidFill>
          <a:ln w="7620">
            <a:solidFill>
              <a:srgbClr val="087F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89236" y="2350008"/>
            <a:ext cx="15773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需求待确认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761220" y="2798064"/>
            <a:ext cx="1833372" cy="145389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89236" y="2990088"/>
            <a:ext cx="15773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仅列业务决定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无则明确无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4360" y="4590288"/>
            <a:ext cx="5248656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确定清单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761488" y="48371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展示完整范围与拟执行动作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5010912"/>
            <a:ext cx="585216" cy="0"/>
          </a:xfrm>
          <a:prstGeom prst="line">
            <a:avLst/>
          </a:prstGeom>
          <a:noFill/>
          <a:ln w="2413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38544" y="4590288"/>
            <a:ext cx="4956048" cy="832104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4791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执行清单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805672" y="483717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确认后按同一内容推进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把合并、测试环境、Wiki 等实际动作一并展示；实质变化再补受影响确认。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小改动和复杂需求怎么处理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按实际需要选择准备深度，保留必要验证和独立评审。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112264"/>
            <a:ext cx="5367528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331720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范围集中、行为清楚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2752344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简短执行说明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13816" y="3465576"/>
            <a:ext cx="4928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行为与排除项 · 现有证据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实施步骤 · 验证入口与预期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99632" y="2112264"/>
            <a:ext cx="539496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33172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需要正式计划或任务协调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19088" y="2752344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Task + 正式 Plan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19088" y="3465576"/>
            <a:ext cx="4956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真实任务与责任 · 已核实工时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步骤依赖 · Task 绑定 · 验收证据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837176"/>
            <a:ext cx="11000232" cy="612648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992624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简单业务决定：对话确认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71032" y="4992624"/>
            <a:ext cx="5367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复杂交互与多组决定：按需评审面板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已有正式 Task／Plan 时延续其约束；轻量说明不能绕过尚未满足的条件。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 Agent 如何协作开发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按依赖和修改边界安排并行，主 Agent 控制集成与共享操作。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3081528"/>
            <a:ext cx="2167128" cy="941832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1892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 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范围与任务分配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9272" y="2267712"/>
            <a:ext cx="2578608" cy="106984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240487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独立步骤 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02152" y="288036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明确路径、输入与验收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79776" y="3547872"/>
            <a:ext cx="466344" cy="-758952"/>
          </a:xfrm>
          <a:prstGeom prst="line">
            <a:avLst/>
          </a:prstGeom>
          <a:noFill/>
          <a:ln w="1524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19272" y="4005072"/>
            <a:ext cx="2578608" cy="106984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414223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独立步骤 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02152" y="46177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明确路径、输入与验收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79776" y="3547872"/>
            <a:ext cx="466344" cy="978408"/>
          </a:xfrm>
          <a:prstGeom prst="line">
            <a:avLst/>
          </a:prstGeom>
          <a:noFill/>
          <a:ln w="1524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3081528"/>
            <a:ext cx="2066544" cy="941832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4536" y="3200400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统一集成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补充关联验证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925312" y="2788920"/>
            <a:ext cx="457200" cy="758952"/>
          </a:xfrm>
          <a:prstGeom prst="line">
            <a:avLst/>
          </a:prstGeom>
          <a:noFill/>
          <a:ln w="1524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25312" y="4526280"/>
            <a:ext cx="457200" cy="-978408"/>
          </a:xfrm>
          <a:prstGeom prst="line">
            <a:avLst/>
          </a:prstGeom>
          <a:noFill/>
          <a:ln w="1524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40496" y="3547872"/>
            <a:ext cx="521208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4856" y="3081528"/>
            <a:ext cx="2459736" cy="941832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0304" y="3273552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独立最终评审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22960" y="5266944"/>
            <a:ext cx="10533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共享文件、公共契约、Git 与交付操作由主 Agent 统一协调。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只有已证实独立的工作才并行；小任务可以直接完成。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怎样判断“做完了”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把完成结论拆成具体事实，避免用一个“通过”覆盖所有阶段。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39112"/>
            <a:ext cx="5381244" cy="149961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40280"/>
            <a:ext cx="530352" cy="29260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2494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17904" y="2212848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实现完成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95528" y="280720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当前变更符合已确认范围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318211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准确代码版本与实际 diff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3348" y="2039112"/>
            <a:ext cx="5381244" cy="149961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6228" y="2240280"/>
            <a:ext cx="530352" cy="29260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2494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6892" y="2212848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行为验证通过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14516" y="280720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预期和异常路径有证据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14516" y="318211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定向测试、复现或浏览器结果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803904"/>
            <a:ext cx="5381244" cy="149961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05072"/>
            <a:ext cx="530352" cy="29260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014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17904" y="3977640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独立评审通过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95528" y="457200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审查当前完整变更与影响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95528" y="494690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与当前版本一致的评审结论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3348" y="3803904"/>
            <a:ext cx="5381244" cy="149961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6228" y="4005072"/>
            <a:ext cx="530352" cy="29260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5956" y="4014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6892" y="3977640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交付动作完成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6414516" y="457200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系统接受或状态读回符合预期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14516" y="494690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MR、队列、Wiki 与登记回执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代码变化后，只刷新失效的验证与评审；没有运行或条件缺失就如实记录。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EXTERNAL DEPENDENCIES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接口没准备好，怎么继续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业务确认、外部条件就绪和执行授权分别判断。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112264"/>
            <a:ext cx="3520440" cy="276148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33172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已确认的业务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2752344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保留已定行为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13816" y="3465576"/>
            <a:ext cx="3081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筛选项与默认值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切换后的页码行为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空结果和返回逻辑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34256" y="2112264"/>
            <a:ext cx="3520440" cy="276148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33172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外部条件与缺口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3712" y="2752344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准确记录依赖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553712" y="3465576"/>
            <a:ext cx="3081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字段含义与接口契约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当前环境与来源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补齐条件和受影响步骤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74152" y="2112264"/>
            <a:ext cx="3520440" cy="276148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33172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本轮可执行步骤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93608" y="2752344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按阶段继续推进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293608" y="3465576"/>
            <a:ext cx="3081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先做已就绪的步骤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补齐后沿原任务续接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真实联调单独验收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093208"/>
            <a:ext cx="11000232" cy="466344"/>
          </a:xfrm>
          <a:prstGeom prst="rect">
            <a:avLst/>
          </a:prstGeom>
          <a:solidFill>
            <a:srgbClr val="FFF0E9"/>
          </a:solidFill>
          <a:ln w="7620">
            <a:solidFill>
              <a:srgbClr val="FFF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5184648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C4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Mock 默认本地；测试环境需明确范围授权；生产禁止携带 Mock。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接口未知时使用功能数据场景，不猜 HTTP 契约；Mock 结果不代表真实联调通过。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TEST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提测交付包含哪些事情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让代码、交付链接与测试上下文一起到位。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50008"/>
            <a:ext cx="2578608" cy="136245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提交／推送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209544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核实当前成果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302666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01568" y="2350008"/>
            <a:ext cx="2578608" cy="136245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5877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MR 与合并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3209544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准确 dev / develop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07608" y="302666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08776" y="2350008"/>
            <a:ext cx="2578608" cy="136245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25877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测试构建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09544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核实队列被接受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14816" y="3026664"/>
            <a:ext cx="16002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350008"/>
            <a:ext cx="2578608" cy="1362456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5877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Wiki 与 TAPD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98864" y="3209544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正文、回链与读回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4133088"/>
            <a:ext cx="6803136" cy="1316736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435254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提测阶段的准确结论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" y="4818888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“构建任务已提交”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827264" y="4242816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记录准确队列链接后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继续 Wiki 与适用 TAPD 登记。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不等待构建启动或完成。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构建任务被接受，并不能证明测试环境已部署成功。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GO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上线与提测有什么区别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明确发起上线，沿原开发分支进入已核实的默认主线。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14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962656"/>
            <a:ext cx="2423160" cy="987552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27832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原开发分支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005072" y="2048256"/>
            <a:ext cx="3328416" cy="93268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226771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dev / develop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005072" y="3877056"/>
            <a:ext cx="3328416" cy="93268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409651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master / 核实后的 main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044952" y="3438144"/>
            <a:ext cx="868680" cy="-923544"/>
          </a:xfrm>
          <a:prstGeom prst="line">
            <a:avLst/>
          </a:prstGeom>
          <a:noFill/>
          <a:ln w="2032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44952" y="3438144"/>
            <a:ext cx="868680" cy="905256"/>
          </a:xfrm>
          <a:prstGeom prst="line">
            <a:avLst/>
          </a:prstGeom>
          <a:noFill/>
          <a:ln w="20320">
            <a:solidFill>
              <a:srgbClr val="087F7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845552" y="2093976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测试交付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45552" y="26426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提交测试构建与测试上下文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45552" y="384048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正式主线交付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45552" y="4407408"/>
            <a:ext cx="3419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需要发布时核验结果与来源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涉及工具包时检查版本和消费者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主线合并、包发布和生产部署分别核验；主线已合并不能替代发布证据。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CONTINUATION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人工检查或流程中断后怎么续接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保留原上下文与已完成成果，从首个未完成阶段继续。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15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11000232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人工修改了代码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5196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核实实际变化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0920" y="2148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补受影响验证与独立评审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843784"/>
            <a:ext cx="11000232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99232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没有主线合并权限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51960" y="29992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保留同一个 MR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0920" y="29992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请有权限同事合并，读回后续接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694176"/>
            <a:ext cx="11000232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962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接口或环境后来补齐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51960" y="38496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延续原 Task / Plan / 分支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0920" y="38496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刷新失效事实与新增范围授权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544568"/>
            <a:ext cx="11000232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00016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写入结果未知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251960" y="47000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先查系统当前状态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47000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避免盲目重试和重复创建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续接的目标是复用已验证成果；范围和版本变化时再刷新对应证据。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现场演示：三句话走一个闭环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沿同一个教学案例，观察每一步输出与停在哪里。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16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39112"/>
            <a:ext cx="3520440" cy="35753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29514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 先实现，我检查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" y="2889504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7F7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$developing-requirement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" y="3557016"/>
            <a:ext cx="3081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需求：〈TAPD链接〉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先完成代码和验证，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我检查后再提测。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" y="50474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观察：范围清单、实际变更、验证与评审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34256" y="2039112"/>
            <a:ext cx="3520440" cy="35753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29514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 检查后直接提测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53712" y="2889504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7F7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$submitting-for-test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3557016"/>
            <a:ext cx="3081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代码检查完成，直接提测。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沿用原分支，先展示具体交付计划。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53712" y="50474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观察：人工改动复核、MR、队列和 Wiki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74152" y="2039112"/>
            <a:ext cx="3520440" cy="35753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229514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 明确要求上线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93608" y="2889504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7F7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$going-live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3608" y="3557016"/>
            <a:ext cx="3081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这个变更已经通过测试，请安排上线。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先展示主线交付与适用发布计划。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93608" y="50474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观察：准确目标、版本核验、未完成项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演示用预先准备的脱敏记录；第三步以展示计划为止，是否执行另看实际授权。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团队如何开始使用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先把连接与上下文准备好，再从一条小任务验证完整链路。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17 /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3520440" cy="3136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准备环境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22960" y="3904488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安装插件与运行依赖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配置个人凭据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审阅 Hook 与核验连接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34256" y="2212848"/>
            <a:ext cx="3520440" cy="3136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62856" y="3108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补齐项目上下文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562856" y="3904488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工作区与项目规则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项目知识与准确映射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确认实际工具权限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74152" y="2212848"/>
            <a:ext cx="3520440" cy="3136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选择一个小任务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302752" y="3904488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目标与验收清楚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走完一次开发与交付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记录断点和改进建议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先验证项目与权限是否匹配；本机配置检查通过，不代表远端权限已经可用。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2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这套实践值得带走什么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2F4C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" y="1719072"/>
            <a:ext cx="106070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把经验固化成流程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把交付落到证据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722376" y="3877056"/>
            <a:ext cx="3282696" cy="0"/>
          </a:xfrm>
          <a:prstGeom prst="line">
            <a:avLst/>
          </a:prstGeom>
          <a:noFill/>
          <a:ln w="15240">
            <a:solidFill>
              <a:srgbClr val="456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4206240"/>
            <a:ext cx="3282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6DF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可复用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22376" y="493776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规则、知识与阶段能力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25696" y="3877056"/>
            <a:ext cx="3282696" cy="0"/>
          </a:xfrm>
          <a:prstGeom prst="line">
            <a:avLst/>
          </a:prstGeom>
          <a:noFill/>
          <a:ln w="15240">
            <a:solidFill>
              <a:srgbClr val="456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4206240"/>
            <a:ext cx="3282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6DF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可续接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25696" y="493776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原任务、原计划、原分支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29016" y="3877056"/>
            <a:ext cx="3282696" cy="0"/>
          </a:xfrm>
          <a:prstGeom prst="line">
            <a:avLst/>
          </a:prstGeom>
          <a:noFill/>
          <a:ln w="15240">
            <a:solidFill>
              <a:srgbClr val="4560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4206240"/>
            <a:ext cx="3282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6DF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可核实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129016" y="493776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C0C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验证、评审与系统回执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2376" y="5833872"/>
            <a:ext cx="1068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讨论：选哪一类小任务，作为团队的第一次完整实践？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APPENDIX /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 A｜完整技能速查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按阶段定位能力，日常不需要一次加载全部技能。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11000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854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发起工作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80360" y="2139696"/>
            <a:ext cx="8439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C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developing-requirement   fixing-bug   submitting-for-test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594360" y="2889504"/>
            <a:ext cx="11000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304495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准备与实施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80360" y="2999232"/>
            <a:ext cx="8439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C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preparing-work   writing-plans   breaking-down-requirement   implementing-work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11000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90448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交付与维护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880360" y="3858768"/>
            <a:ext cx="8439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C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going-live   running-release   merge-request-review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C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drafting-wiki   linking-tapd-wiki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594360" y="4608576"/>
            <a:ext cx="11000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76402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上下文与辅助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880360" y="4718304"/>
            <a:ext cx="8439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C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workspace-project-knowledge   project-memory-context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2C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team-identity-map   login-token-workflow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准确职责与使用条件，以插件当前 README 和对应 SKILL.md 为准。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APPENDIX /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 B｜安装与首次连接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以下命令来自插件当前 README，并用本机 CLI 帮助核对语法。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48256"/>
            <a:ext cx="11000232" cy="1563624"/>
          </a:xfrm>
          <a:prstGeom prst="rect">
            <a:avLst/>
          </a:prstGeom>
          <a:solidFill>
            <a:srgbClr val="112D35"/>
          </a:solidFill>
          <a:ln w="7620">
            <a:solidFill>
              <a:srgbClr val="112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386584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codex plugin marketplace add cfj1996/skills --sparse .agents/plugins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codex plugin add zan-workflows@cfj-skills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968496"/>
            <a:ext cx="35204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1788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运行依赖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95528" y="4700016"/>
            <a:ext cx="31181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Node.js 22 · Volta · uv/uvx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按各 MCP 要求准备运行时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34256" y="3968496"/>
            <a:ext cx="35204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41788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个人配置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35424" y="4700016"/>
            <a:ext cx="31181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~/.config/zan-workflows/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credentials.json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74152" y="3968496"/>
            <a:ext cx="35204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41788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首次核验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75320" y="4700016"/>
            <a:ext cx="31181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核对来源与插件状态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重启、新建聊天、审阅 Hook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project-knowledge 是外部配套仓库；首次初始化与项目规则按工作区维护要求执行。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APPENDIX / FAQ &amp;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 C｜常见问题与事实边界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07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用于现场问答，也作为后续维护这份分享的检查点。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428232"/>
            <a:ext cx="11082528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ZAN WORKFLOWS   /   研发实践分享 · 2026.10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9751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每次都要建 Task / Plan 吗？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39512" y="197510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按实际需要；已有正式任务与计划继续沿用其约束。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514600"/>
            <a:ext cx="10872216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609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会直接提交和上线吗？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39512" y="266090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实际动作先进入完整清单确认；上线须明确发起。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200400"/>
            <a:ext cx="10872216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46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构建任务已提交等于部署成功吗？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9512" y="334670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不等于。提测核实队列接受，正式发布核验结果与来源。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886200"/>
            <a:ext cx="10872216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32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接口没好能用 Mock 吗？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9512" y="403250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C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默认仅本地；测试需明确范围授权，生产禁止携带。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10872216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5047488"/>
            <a:ext cx="10863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事实依据：插件 README；各阶段 SKILL.md；adaptive-workflow、execution-checklist、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external-data-dependencies、mock-development 等维护文档。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solidFill>
            <a:srgbClr val="DBF0E9"/>
          </a:solidFill>
          <a:ln w="7620">
            <a:solidFill>
              <a:srgbClr val="DBF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5888736"/>
            <a:ext cx="10671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7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材料口径：2026-10-26 的当前仓库说明。案例为教学示例，未使用真实客户或凭据数据。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Zan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AI 写代码到 AI 协同研发</dc:title>
  <dc:subject>面向研发同事的 Zan Workflows 工作流与插件分享</dc:subject>
  <dc:creator>cfj</dc:creator>
  <cp:lastModifiedBy>cfj</cp:lastModifiedBy>
  <cp:revision>1</cp:revision>
  <dcterms:created xsi:type="dcterms:W3CDTF">2026-10-26T11:33:18Z</dcterms:created>
  <dcterms:modified xsi:type="dcterms:W3CDTF">2026-10-26T11:33:18Z</dcterms:modified>
</cp:coreProperties>
</file>